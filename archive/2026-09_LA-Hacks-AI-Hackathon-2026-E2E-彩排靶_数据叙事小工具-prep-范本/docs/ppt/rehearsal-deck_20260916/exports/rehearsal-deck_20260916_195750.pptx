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评审好，接下来三分钟我想证明一件事：这个作品里的每个数字都经得起追问。它是一个最小的数据叙事闭环，从一份原始表格出发，到最后您眼前这份答辩稿，任何一步出现的数字都能追溯到一次真实测量。整套东西零第三方依赖，一共八项实测指标，每一项都带来源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先看工具本身。一条命令，把原始 CSV 直接变成可引用的指标：六行三列的样例数据进来，行数、列数、每列的观测数、均值和最大值当场算出。这里没有黑盒——命令行、解析、统计和自检全部用 Python 标准库原生实现，任何一台评审机装好 Python 就能复跑。它还带自检模式，异常输入或统计不过就返回非零退出码，验收项就是直接消费这个退出码的。背后的证据是二十九项单元测试全部通过。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这一页是全部实测结果。八项指标分两族：数据规模是六行三列；分布族里，成绩列六个观测、均值八十八分、最高九十五分，学时列均值五点五、最长八小时。请注意最右边一列——每个数字旁边就是它在 metrics 文件里的键名。也就是说，这些数字不是写出来的，是测出来的，您可以逐键核对。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字可信之外，生产过程本身也可复验，一共三环。第一环，测试先行：二十九项单元测试，红绿两次留痕，先写测试再写实现。第二环，波门验收左移：第一波结束就提前跑了前两项验收，双通过；这种范围化检查不烧熔断额度，失败重派至多一次。第三环，全量终验：三项验收全过，结果为通过，重试零比三，没有触发熔断；报告里出现的每个数字都逐键命中了 metrics 文件。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所以一句话收束：作品即证据。您不需要相信我的叙述——跑一遍验收命令，退出码为零，数字自己说话。这个作品由智能体产出全部工程物，人负责确认蓝图和两道关键决策门，全部留痕，随战役归档。谢谢各位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hearsal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hearsal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0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2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-circuit"/>
          <p:cNvSpPr/>
          <p:nvPr/>
        </p:nvSpPr>
        <p:spPr>
          <a:xfrm>
            <a:off x="0" y="1619250"/>
            <a:ext cx="12192000" cy="4667250"/>
          </a:xfrm>
          <a:custGeom>
            <a:avLst/>
            <a:gdLst/>
            <a:ahLst/>
            <a:cxnLst/>
            <a:rect l="l" t="t" r="r" b="b"/>
            <a:pathLst>
              <a:path w="12192000" h="4667250">
                <a:moveTo>
                  <a:pt x="0" y="4667250"/>
                </a:moveTo>
                <a:cubicBezTo>
                  <a:pt x="2857500" y="4476750"/>
                  <a:pt x="4000500" y="3333750"/>
                  <a:pt x="6286500" y="2857500"/>
                </a:cubicBezTo>
                <a:cubicBezTo>
                  <a:pt x="8572500" y="2381250"/>
                  <a:pt x="9906000" y="2190750"/>
                  <a:pt x="12192000" y="0"/>
                </a:cubicBezTo>
              </a:path>
            </a:pathLst>
          </a:custGeom>
          <a:noFill/>
          <a:ln w="19050">
            <a:solidFill>
              <a:schemeClr val="accent2">
                <a:alpha val="16000"/>
              </a:schemeClr>
            </a:solidFill>
          </a:ln>
        </p:spPr>
      </p:sp>
      <p:sp>
        <p:nvSpPr>
          <p:cNvPr id="3" name="decor-numeral"/>
          <p:cNvSpPr txBox="1"/>
          <p:nvPr/>
        </p:nvSpPr>
        <p:spPr>
          <a:xfrm>
            <a:off x="9601200" y="1524000"/>
            <a:ext cx="2259330" cy="2876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0" dirty="0">
                <a:solidFill>
                  <a:schemeClr val="accent1">
                    <a:alphaMod val="7000"/>
                  </a:schemeClr>
                </a:solidFill>
                <a:latin typeface="Consolas"/>
                <a:ea typeface="Consolas"/>
                <a:cs typeface="Consolas"/>
              </a:rPr>
              <a:t>3′</a:t>
            </a:r>
          </a:p>
        </p:txBody>
      </p:sp>
      <p:grpSp>
        <p:nvGrpSpPr>
          <p:cNvPr id="6" name="cover-title"/>
          <p:cNvGrpSpPr/>
          <p:nvPr/>
        </p:nvGrpSpPr>
        <p:grpSpPr>
          <a:xfrm>
            <a:off x="3623500" y="2572702"/>
            <a:ext cx="4944999" cy="790575"/>
            <a:chOff x="3623500" y="2572702"/>
            <a:chExt cx="4944999" cy="790575"/>
          </a:xfrm>
        </p:grpSpPr>
        <p:sp>
          <p:nvSpPr>
            <p:cNvPr id="4" name="TextBox 4"/>
            <p:cNvSpPr txBox="1"/>
            <p:nvPr/>
          </p:nvSpPr>
          <p:spPr>
            <a:xfrm>
              <a:off x="3623500" y="2572702"/>
              <a:ext cx="494499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可信数字，</a:t>
              </a:r>
              <a:r>
                <a:rPr lang="zh-CN" sz="4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一键复验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0" y="3219450"/>
              <a:ext cx="1524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glow rad="57150">
                <a:srgbClr val="22D3EE">
                  <a:alpha val="35000"/>
                </a:srgbClr>
              </a:glow>
            </a:effectLst>
          </p:spPr>
        </p:sp>
      </p:grpSp>
      <p:grpSp>
        <p:nvGrpSpPr>
          <p:cNvPr id="8" name="cover-subtitle"/>
          <p:cNvGrpSpPr/>
          <p:nvPr/>
        </p:nvGrpSpPr>
        <p:grpSpPr>
          <a:xfrm>
            <a:off x="2429370" y="3747135"/>
            <a:ext cx="7333259" cy="528066"/>
            <a:chOff x="2429370" y="3747135"/>
            <a:chExt cx="7333259" cy="528066"/>
          </a:xfrm>
        </p:grpSpPr>
        <p:sp>
          <p:nvSpPr>
            <p:cNvPr id="7" name="TextBox 7"/>
            <p:cNvSpPr txBox="1"/>
            <p:nvPr/>
          </p:nvSpPr>
          <p:spPr>
            <a:xfrm>
              <a:off x="2429370" y="3747135"/>
              <a:ext cx="733325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最小数据叙事闭环——每个数字都能追溯到实测</a:t>
              </a:r>
            </a:p>
          </p:txBody>
        </p:sp>
      </p:grpSp>
      <p:grpSp>
        <p:nvGrpSpPr>
          <p:cNvPr id="16" name="cover-pills"/>
          <p:cNvGrpSpPr/>
          <p:nvPr/>
        </p:nvGrpSpPr>
        <p:grpSpPr>
          <a:xfrm>
            <a:off x="3238500" y="4629150"/>
            <a:ext cx="5715000" cy="533400"/>
            <a:chOff x="3238500" y="4629150"/>
            <a:chExt cx="5715000" cy="533400"/>
          </a:xfrm>
        </p:grpSpPr>
        <p:sp>
          <p:nvSpPr>
            <p:cNvPr id="9" name="Rectangle 9"/>
            <p:cNvSpPr/>
            <p:nvPr/>
          </p:nvSpPr>
          <p:spPr>
            <a:xfrm>
              <a:off x="3238500" y="4629150"/>
              <a:ext cx="1714500" cy="533400"/>
            </a:xfrm>
            <a:prstGeom prst="roundRect">
              <a:avLst>
                <a:gd name="adj" fmla="val 10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238750" y="4629150"/>
              <a:ext cx="1714500" cy="533400"/>
            </a:xfrm>
            <a:prstGeom prst="roundRect">
              <a:avLst>
                <a:gd name="adj" fmla="val 10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239000" y="4629150"/>
              <a:ext cx="1714500" cy="533400"/>
            </a:xfrm>
            <a:prstGeom prst="roundRect">
              <a:avLst>
                <a:gd name="adj" fmla="val 10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661029" y="4745355"/>
              <a:ext cx="5011293" cy="410718"/>
              <a:chOff x="3661029" y="4745355"/>
              <a:chExt cx="5011293" cy="41071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661029" y="4745355"/>
                <a:ext cx="869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零依赖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505793" y="4745355"/>
                <a:ext cx="118041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8 项实测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20178" y="474535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全键溯源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083784" y="6276975"/>
            <a:ext cx="80244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e2e-rehearsal-2026 · LA Hacks AI 2026（prep 范本）· 数字出处＝metrics.json 8 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742950" y="896302"/>
            <a:ext cx="9577235" cy="790575"/>
            <a:chOff x="742950" y="896302"/>
            <a:chExt cx="9577235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896302"/>
              <a:ext cx="957723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一条命令，把原始 CSV 变成</a:t>
              </a:r>
              <a:r>
                <a:rPr lang="zh-CN" sz="4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可引用指标</a:t>
              </a:r>
            </a:p>
          </p:txBody>
        </p:sp>
      </p:grpSp>
      <p:grpSp>
        <p:nvGrpSpPr>
          <p:cNvPr id="6" name="takeaway"/>
          <p:cNvGrpSpPr/>
          <p:nvPr/>
        </p:nvGrpSpPr>
        <p:grpSpPr>
          <a:xfrm>
            <a:off x="762000" y="1714500"/>
            <a:ext cx="7501700" cy="444817"/>
            <a:chOff x="762000" y="1714500"/>
            <a:chExt cx="7501700" cy="444817"/>
          </a:xfrm>
        </p:grpSpPr>
        <p:sp>
          <p:nvSpPr>
            <p:cNvPr id="4" name="Rectangle 4"/>
            <p:cNvSpPr/>
            <p:nvPr/>
          </p:nvSpPr>
          <p:spPr>
            <a:xfrm>
              <a:off x="762000" y="1714500"/>
              <a:ext cx="381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1070" y="1719262"/>
              <a:ext cx="73226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零依赖是可信的前提——没有黑盒，任何评审机都能复跑</a:t>
              </a:r>
            </a:p>
          </p:txBody>
        </p:sp>
      </p:grpSp>
      <p:grpSp>
        <p:nvGrpSpPr>
          <p:cNvPr id="17" name="terminal-card"/>
          <p:cNvGrpSpPr/>
          <p:nvPr/>
        </p:nvGrpSpPr>
        <p:grpSpPr>
          <a:xfrm>
            <a:off x="762000" y="2362200"/>
            <a:ext cx="6286500" cy="3390900"/>
            <a:chOff x="762000" y="2362200"/>
            <a:chExt cx="6286500" cy="3390900"/>
          </a:xfrm>
        </p:grpSpPr>
        <p:sp>
          <p:nvSpPr>
            <p:cNvPr id="7" name="Rectangle 7"/>
            <p:cNvSpPr/>
            <p:nvPr/>
          </p:nvSpPr>
          <p:spPr>
            <a:xfrm>
              <a:off x="762000" y="2362200"/>
              <a:ext cx="6286500" cy="3390900"/>
            </a:xfrm>
            <a:prstGeom prst="roundRect">
              <a:avLst>
                <a:gd name="adj" fmla="val 16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23938" y="2635250"/>
              <a:ext cx="200026" cy="177801"/>
              <a:chOff x="1023938" y="2635250"/>
              <a:chExt cx="200026" cy="17780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79500" y="2690813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0"/>
                    </a:moveTo>
                    <a:lnTo>
                      <a:pt x="33338" y="33338"/>
                    </a:lnTo>
                    <a:lnTo>
                      <a:pt x="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35063" y="2757488"/>
                <a:ext cx="333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9525">
                    <a:moveTo>
                      <a:pt x="0" y="0"/>
                    </a:moveTo>
                    <a:lnTo>
                      <a:pt x="3333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23938" y="2635250"/>
                <a:ext cx="200026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77801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55575"/>
                    </a:lnTo>
                    <a:cubicBezTo>
                      <a:pt x="200026" y="167850"/>
                      <a:pt x="190075" y="177801"/>
                      <a:pt x="177801" y="177801"/>
                    </a:cubicBez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63980" y="2638425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stats_cli · 终端会话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982218" y="3174682"/>
              <a:ext cx="5636476" cy="2113407"/>
              <a:chOff x="982218" y="3174682"/>
              <a:chExt cx="5636476" cy="2113407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82218" y="3174682"/>
                <a:ext cx="56364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$ python stats_cli.py --csv sample.csv --check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82218" y="3669982"/>
                <a:ext cx="4281106" cy="10085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lang="en-US" sz="16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{ "rows": 6, "cols": 3,</a:t>
                </a:r>
                <a:br/>
                <a:r>
                  <a:rPr lang="en-US" sz="16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"score": {"mean": 88.0, "max": 95.0},</a:t>
                </a:r>
                <a:br/>
                <a:r>
                  <a:rPr lang="en-US" sz="16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"hours": {"mean": 5.5, "max": 8.0} }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82218" y="4965382"/>
                <a:ext cx="200476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exit 0 · 自检通过</a:t>
                </a:r>
              </a:p>
            </p:txBody>
          </p:sp>
        </p:grpSp>
      </p:grpSp>
      <p:grpSp>
        <p:nvGrpSpPr>
          <p:cNvPr id="21" name="card-zero-dep"/>
          <p:cNvGrpSpPr/>
          <p:nvPr/>
        </p:nvGrpSpPr>
        <p:grpSpPr>
          <a:xfrm>
            <a:off x="7353300" y="2362200"/>
            <a:ext cx="4076700" cy="1562100"/>
            <a:chOff x="7353300" y="2362200"/>
            <a:chExt cx="4076700" cy="1562100"/>
          </a:xfrm>
        </p:grpSpPr>
        <p:sp>
          <p:nvSpPr>
            <p:cNvPr id="18" name="Rectangle 18"/>
            <p:cNvSpPr/>
            <p:nvPr/>
          </p:nvSpPr>
          <p:spPr>
            <a:xfrm>
              <a:off x="7353300" y="2362200"/>
              <a:ext cx="4076700" cy="1562100"/>
            </a:xfrm>
            <a:prstGeom prst="roundRect">
              <a:avLst>
                <a:gd name="adj" fmla="val 36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46670" y="272891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零第三方依赖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49718" y="3250882"/>
              <a:ext cx="345338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纯 Python 标准库——CLI、解析、统计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与自检全部原生气实现，无黑盒</a:t>
              </a:r>
            </a:p>
          </p:txBody>
        </p:sp>
      </p:grpSp>
      <p:grpSp>
        <p:nvGrpSpPr>
          <p:cNvPr id="25" name="card-selfcheck"/>
          <p:cNvGrpSpPr/>
          <p:nvPr/>
        </p:nvGrpSpPr>
        <p:grpSpPr>
          <a:xfrm>
            <a:off x="7353300" y="4191000"/>
            <a:ext cx="4076700" cy="1562100"/>
            <a:chOff x="7353300" y="4191000"/>
            <a:chExt cx="4076700" cy="1562100"/>
          </a:xfrm>
        </p:grpSpPr>
        <p:sp>
          <p:nvSpPr>
            <p:cNvPr id="22" name="Rectangle 22"/>
            <p:cNvSpPr/>
            <p:nvPr/>
          </p:nvSpPr>
          <p:spPr>
            <a:xfrm>
              <a:off x="7353300" y="4191000"/>
              <a:ext cx="4076700" cy="1562100"/>
            </a:xfrm>
            <a:prstGeom prst="roundRect">
              <a:avLst>
                <a:gd name="adj" fmla="val 36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46670" y="4557712"/>
              <a:ext cx="25543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自检模式 --check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49718" y="5079682"/>
              <a:ext cx="319144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异常输入或统计不过 → 非零退出码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验收项 a1 直接消费该退出码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533965" y="6276975"/>
            <a:ext cx="51240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证据 · 29 项单元测试全绿（a2）｜e2e-rehearsal-2026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742950" y="896302"/>
            <a:ext cx="7067233" cy="790575"/>
            <a:chOff x="742950" y="896302"/>
            <a:chExt cx="7067233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896302"/>
              <a:ext cx="7067233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项实测指标，全部</a:t>
              </a:r>
              <a:r>
                <a:rPr lang="zh-CN" sz="4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一键可溯</a:t>
              </a:r>
            </a:p>
          </p:txBody>
        </p:sp>
      </p:grpSp>
      <p:grpSp>
        <p:nvGrpSpPr>
          <p:cNvPr id="11" name="takeaway"/>
          <p:cNvGrpSpPr/>
          <p:nvPr/>
        </p:nvGrpSpPr>
        <p:grpSpPr>
          <a:xfrm>
            <a:off x="762000" y="1714500"/>
            <a:ext cx="8818245" cy="444817"/>
            <a:chOff x="762000" y="1714500"/>
            <a:chExt cx="8818245" cy="444817"/>
          </a:xfrm>
        </p:grpSpPr>
        <p:sp>
          <p:nvSpPr>
            <p:cNvPr id="4" name="Rectangle 4"/>
            <p:cNvSpPr/>
            <p:nvPr/>
          </p:nvSpPr>
          <p:spPr>
            <a:xfrm>
              <a:off x="762000" y="1714500"/>
              <a:ext cx="381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971550" y="1765300"/>
              <a:ext cx="228600" cy="212724"/>
              <a:chOff x="971550" y="1765300"/>
              <a:chExt cx="228600" cy="21272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71550" y="186690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3950" y="18161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47750" y="1765300"/>
                <a:ext cx="762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199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199"/>
                      <a:pt x="63500" y="203199"/>
                    </a:cubicBezTo>
                    <a:lnTo>
                      <a:pt x="12700" y="203199"/>
                    </a:lnTo>
                    <a:cubicBezTo>
                      <a:pt x="5686" y="203199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4250" y="1968499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79220" y="1719262"/>
              <a:ext cx="82010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数字不是写出来的，是测出来的——右列即 metrics.json 键名</a:t>
              </a:r>
            </a:p>
          </p:txBody>
        </p:sp>
      </p:grpSp>
      <p:grpSp>
        <p:nvGrpSpPr>
          <p:cNvPr id="65" name="metrics-table"/>
          <p:cNvGrpSpPr/>
          <p:nvPr/>
        </p:nvGrpSpPr>
        <p:grpSpPr>
          <a:xfrm>
            <a:off x="762000" y="2286000"/>
            <a:ext cx="10668000" cy="4070223"/>
            <a:chOff x="762000" y="2286000"/>
            <a:chExt cx="10668000" cy="4070223"/>
          </a:xfrm>
        </p:grpSpPr>
        <p:sp>
          <p:nvSpPr>
            <p:cNvPr id="12" name="Rectangle 12"/>
            <p:cNvSpPr/>
            <p:nvPr/>
          </p:nvSpPr>
          <p:spPr>
            <a:xfrm>
              <a:off x="762000" y="2286000"/>
              <a:ext cx="10668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23907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21380" y="23907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06590" y="2390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实测值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55280" y="23907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来源键</a:t>
              </a:r>
            </a:p>
          </p:txBody>
        </p:sp>
        <p:grpSp>
          <p:nvGrpSpPr>
            <p:cNvPr id="22" name="metrics-row-1"/>
            <p:cNvGrpSpPr/>
            <p:nvPr/>
          </p:nvGrpSpPr>
          <p:grpSpPr>
            <a:xfrm>
              <a:off x="762000" y="2745105"/>
              <a:ext cx="10668000" cy="410718"/>
              <a:chOff x="762000" y="2745105"/>
              <a:chExt cx="10668000" cy="41071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03732" y="2745105"/>
                <a:ext cx="64328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rows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20618" y="2793682"/>
                <a:ext cx="26822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样例数据行数（不含表头）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453846" y="274510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6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955280" y="2809875"/>
                <a:ext cx="23475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metrics.software.rows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762000" y="31242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28" name="metrics-row-2"/>
            <p:cNvGrpSpPr/>
            <p:nvPr/>
          </p:nvGrpSpPr>
          <p:grpSpPr>
            <a:xfrm>
              <a:off x="762000" y="3202305"/>
              <a:ext cx="10668000" cy="410718"/>
              <a:chOff x="762000" y="3202305"/>
              <a:chExt cx="10668000" cy="410718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03732" y="3202305"/>
                <a:ext cx="64328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cols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20618" y="32508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数据列数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453846" y="320230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55280" y="3267075"/>
                <a:ext cx="23475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metrics.software.cols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762000" y="35814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34" name="metrics-row-3"/>
            <p:cNvGrpSpPr/>
            <p:nvPr/>
          </p:nvGrpSpPr>
          <p:grpSpPr>
            <a:xfrm>
              <a:off x="762000" y="3659505"/>
              <a:ext cx="10668000" cy="410718"/>
              <a:chOff x="762000" y="3659505"/>
              <a:chExt cx="10668000" cy="410718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903732" y="3659505"/>
                <a:ext cx="173168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score_count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420618" y="3708082"/>
                <a:ext cx="224910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score 列非缺失观测数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453846" y="365950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6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955280" y="3724275"/>
                <a:ext cx="31249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metrics.software.score_count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762000" y="40386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40" name="metrics-row-4"/>
            <p:cNvGrpSpPr/>
            <p:nvPr/>
          </p:nvGrpSpPr>
          <p:grpSpPr>
            <a:xfrm>
              <a:off x="762000" y="4116705"/>
              <a:ext cx="10668000" cy="410718"/>
              <a:chOff x="762000" y="4116705"/>
              <a:chExt cx="10668000" cy="410718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903732" y="4116705"/>
                <a:ext cx="157619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score_mean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420618" y="4165282"/>
                <a:ext cx="13606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score 列均值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987388" y="4116705"/>
                <a:ext cx="64328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88.0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955280" y="4181475"/>
                <a:ext cx="3013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metrics.software.score_mean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762000" y="44958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46" name="metrics-row-5"/>
            <p:cNvGrpSpPr/>
            <p:nvPr/>
          </p:nvGrpSpPr>
          <p:grpSpPr>
            <a:xfrm>
              <a:off x="762000" y="4573905"/>
              <a:ext cx="10668000" cy="410718"/>
              <a:chOff x="762000" y="4573905"/>
              <a:chExt cx="10668000" cy="410718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903732" y="4573905"/>
                <a:ext cx="142071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score_max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420618" y="4622482"/>
                <a:ext cx="1582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score 列最大值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987388" y="4573905"/>
                <a:ext cx="64328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95.0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955280" y="4638675"/>
                <a:ext cx="29028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metrics.software.score_max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762000" y="49530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52" name="metrics-row-6"/>
            <p:cNvGrpSpPr/>
            <p:nvPr/>
          </p:nvGrpSpPr>
          <p:grpSpPr>
            <a:xfrm>
              <a:off x="762000" y="5031105"/>
              <a:ext cx="10668000" cy="410718"/>
              <a:chOff x="762000" y="5031105"/>
              <a:chExt cx="10668000" cy="410718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903732" y="5031105"/>
                <a:ext cx="173168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hours_count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420618" y="5079682"/>
                <a:ext cx="224910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hours 列非缺失观测数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453846" y="503110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6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955280" y="5095875"/>
                <a:ext cx="31249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metrics.software.hours_count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762000" y="54102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58" name="metrics-row-7"/>
            <p:cNvGrpSpPr/>
            <p:nvPr/>
          </p:nvGrpSpPr>
          <p:grpSpPr>
            <a:xfrm>
              <a:off x="762000" y="5488305"/>
              <a:ext cx="10668000" cy="410718"/>
              <a:chOff x="762000" y="5488305"/>
              <a:chExt cx="10668000" cy="410718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903732" y="5488305"/>
                <a:ext cx="157619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hours_mean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420618" y="5536882"/>
                <a:ext cx="13606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hours 列均值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142874" y="5488305"/>
                <a:ext cx="487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5.5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955280" y="5553075"/>
                <a:ext cx="3013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metrics.software.hours_mean</a:t>
                </a:r>
              </a:p>
            </p:txBody>
          </p:sp>
          <p:sp>
            <p:nvSpPr>
              <p:cNvPr id="57" name="Line 57"/>
              <p:cNvSpPr/>
              <p:nvPr/>
            </p:nvSpPr>
            <p:spPr>
              <a:xfrm>
                <a:off x="762000" y="58674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64" name="metrics-row-8"/>
            <p:cNvGrpSpPr/>
            <p:nvPr/>
          </p:nvGrpSpPr>
          <p:grpSpPr>
            <a:xfrm>
              <a:off x="762000" y="5945505"/>
              <a:ext cx="10668000" cy="410718"/>
              <a:chOff x="762000" y="5945505"/>
              <a:chExt cx="10668000" cy="410718"/>
            </a:xfrm>
          </p:grpSpPr>
          <p:sp>
            <p:nvSpPr>
              <p:cNvPr id="59" name="TextBox 59"/>
              <p:cNvSpPr txBox="1"/>
              <p:nvPr/>
            </p:nvSpPr>
            <p:spPr>
              <a:xfrm>
                <a:off x="903732" y="5945505"/>
                <a:ext cx="142071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hours_max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3420618" y="5994082"/>
                <a:ext cx="1582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hours 列最大值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142874" y="5945505"/>
                <a:ext cx="487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8.0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55280" y="6010275"/>
                <a:ext cx="29028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metrics.software.hours_max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762000" y="63246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1333500" y="28575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grpSp>
        <p:nvGrpSpPr>
          <p:cNvPr id="4" name="page-title"/>
          <p:cNvGrpSpPr/>
          <p:nvPr/>
        </p:nvGrpSpPr>
        <p:grpSpPr>
          <a:xfrm>
            <a:off x="742950" y="896302"/>
            <a:ext cx="8987739" cy="790575"/>
            <a:chOff x="742950" y="896302"/>
            <a:chExt cx="8987739" cy="790575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896302"/>
              <a:ext cx="898773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质量闭环：测试先行 · 左移 · </a:t>
              </a:r>
              <a:r>
                <a:rPr lang="zh-CN" sz="4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全溯源</a:t>
              </a:r>
            </a:p>
          </p:txBody>
        </p:sp>
      </p:grpSp>
      <p:grpSp>
        <p:nvGrpSpPr>
          <p:cNvPr id="7" name="takeaway"/>
          <p:cNvGrpSpPr/>
          <p:nvPr/>
        </p:nvGrpSpPr>
        <p:grpSpPr>
          <a:xfrm>
            <a:off x="762000" y="1714500"/>
            <a:ext cx="7153370" cy="444817"/>
            <a:chOff x="762000" y="1714500"/>
            <a:chExt cx="7153370" cy="444817"/>
          </a:xfrm>
        </p:grpSpPr>
        <p:sp>
          <p:nvSpPr>
            <p:cNvPr id="5" name="Rectangle 5"/>
            <p:cNvSpPr/>
            <p:nvPr/>
          </p:nvSpPr>
          <p:spPr>
            <a:xfrm>
              <a:off x="762000" y="1714500"/>
              <a:ext cx="381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1070" y="1719262"/>
              <a:ext cx="69743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链路上每一环都有自动化证据——3 分钟内可全部复跑</a:t>
              </a:r>
            </a:p>
          </p:txBody>
        </p:sp>
      </p:grpSp>
      <p:grpSp>
        <p:nvGrpSpPr>
          <p:cNvPr id="16" name="step-tdd"/>
          <p:cNvGrpSpPr/>
          <p:nvPr/>
        </p:nvGrpSpPr>
        <p:grpSpPr>
          <a:xfrm>
            <a:off x="952500" y="3200400"/>
            <a:ext cx="3048000" cy="2514600"/>
            <a:chOff x="952500" y="3200400"/>
            <a:chExt cx="3048000" cy="2514600"/>
          </a:xfrm>
        </p:grpSpPr>
        <p:sp>
          <p:nvSpPr>
            <p:cNvPr id="8" name="Rectangle 8"/>
            <p:cNvSpPr/>
            <p:nvPr/>
          </p:nvSpPr>
          <p:spPr>
            <a:xfrm>
              <a:off x="952500" y="3200400"/>
              <a:ext cx="3048000" cy="25146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219200" y="35052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59389" y="36023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55470" y="3586162"/>
              <a:ext cx="18897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TDD 测试先行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48918" y="4260532"/>
              <a:ext cx="2531364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项单元测试全绿（a2）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红→绿两次留痕，先测后码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覆盖异常分支与核验器分支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290638" y="5329238"/>
              <a:ext cx="200026" cy="200026"/>
              <a:chOff x="1290638" y="5329238"/>
              <a:chExt cx="200026" cy="2000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290638" y="53292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357313" y="54070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</p:grpSp>
      <p:grpSp>
        <p:nvGrpSpPr>
          <p:cNvPr id="25" name="step-gate"/>
          <p:cNvGrpSpPr/>
          <p:nvPr/>
        </p:nvGrpSpPr>
        <p:grpSpPr>
          <a:xfrm>
            <a:off x="4572000" y="3200400"/>
            <a:ext cx="3048000" cy="2514600"/>
            <a:chOff x="4572000" y="3200400"/>
            <a:chExt cx="3048000" cy="2514600"/>
          </a:xfrm>
        </p:grpSpPr>
        <p:sp>
          <p:nvSpPr>
            <p:cNvPr id="17" name="Rectangle 17"/>
            <p:cNvSpPr/>
            <p:nvPr/>
          </p:nvSpPr>
          <p:spPr>
            <a:xfrm>
              <a:off x="4572000" y="3200400"/>
              <a:ext cx="3048000" cy="25146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838700" y="35052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78889" y="36023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74970" y="358616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波门验收左移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68418" y="4260532"/>
              <a:ext cx="2290382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波门早跑 a1/a2 双 PASS</a:t>
              </a:r>
              <a:br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scoped </a:t>
              </a:r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不烧熔断额度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重派 ≤1 次，波门即断点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921250" y="5336063"/>
              <a:ext cx="177801" cy="186375"/>
              <a:chOff x="4921250" y="5336063"/>
              <a:chExt cx="177801" cy="1863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921250" y="53360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921250" y="54403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</p:grpSp>
      <p:grpSp>
        <p:nvGrpSpPr>
          <p:cNvPr id="34" name="step-accept"/>
          <p:cNvGrpSpPr/>
          <p:nvPr/>
        </p:nvGrpSpPr>
        <p:grpSpPr>
          <a:xfrm>
            <a:off x="8191500" y="3200400"/>
            <a:ext cx="3048000" cy="2514600"/>
            <a:chOff x="8191500" y="3200400"/>
            <a:chExt cx="3048000" cy="2514600"/>
          </a:xfrm>
        </p:grpSpPr>
        <p:sp>
          <p:nvSpPr>
            <p:cNvPr id="26" name="Rectangle 26"/>
            <p:cNvSpPr/>
            <p:nvPr/>
          </p:nvSpPr>
          <p:spPr>
            <a:xfrm>
              <a:off x="8191500" y="3200400"/>
              <a:ext cx="3048000" cy="2514600"/>
            </a:xfrm>
            <a:prstGeom prst="roundRect">
              <a:avLst>
                <a:gd name="adj" fmla="val 227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458200" y="35052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98389" y="36023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94470" y="358616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终验全过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87918" y="4260532"/>
              <a:ext cx="2426589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全量 pass（a1–a3）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retry 0/3，未触熔断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a3 数字逐键命中 metrics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8529638" y="5329238"/>
              <a:ext cx="200026" cy="200026"/>
              <a:chOff x="8529638" y="5329238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529638" y="53292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596313" y="54070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</p:grpSp>
      <p:sp>
        <p:nvSpPr>
          <p:cNvPr id="35" name="TextBox 35"/>
          <p:cNvSpPr txBox="1"/>
          <p:nvPr/>
        </p:nvSpPr>
        <p:spPr>
          <a:xfrm>
            <a:off x="2766632" y="6276975"/>
            <a:ext cx="665873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证据 · acceptance/run-2.json（result=pass）｜e2e-rehearsal-2026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-circuit-echo"/>
          <p:cNvSpPr/>
          <p:nvPr/>
        </p:nvSpPr>
        <p:spPr>
          <a:xfrm>
            <a:off x="0" y="533400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0" y="1333500"/>
                </a:moveTo>
                <a:cubicBezTo>
                  <a:pt x="3429000" y="1143000"/>
                  <a:pt x="6858000" y="952500"/>
                  <a:pt x="12192000" y="0"/>
                </a:cubicBezTo>
              </a:path>
            </a:pathLst>
          </a:custGeom>
          <a:noFill/>
          <a:ln w="19050">
            <a:solidFill>
              <a:schemeClr val="accent2">
                <a:alpha val="12000"/>
              </a:schemeClr>
            </a:solidFill>
          </a:ln>
        </p:spPr>
      </p:sp>
      <p:grpSp>
        <p:nvGrpSpPr>
          <p:cNvPr id="10" name="closing-hero"/>
          <p:cNvGrpSpPr/>
          <p:nvPr/>
        </p:nvGrpSpPr>
        <p:grpSpPr>
          <a:xfrm>
            <a:off x="2972621" y="2331904"/>
            <a:ext cx="4910269" cy="940886"/>
            <a:chOff x="2972621" y="2331904"/>
            <a:chExt cx="4910269" cy="940886"/>
          </a:xfrm>
        </p:grpSpPr>
        <p:grpSp>
          <p:nvGrpSpPr>
            <p:cNvPr id="8" name="Group 8"/>
            <p:cNvGrpSpPr/>
            <p:nvPr/>
          </p:nvGrpSpPr>
          <p:grpSpPr>
            <a:xfrm>
              <a:off x="2972621" y="2331904"/>
              <a:ext cx="334171" cy="334199"/>
              <a:chOff x="2972621" y="2331904"/>
              <a:chExt cx="334171" cy="334199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3125787" y="2478087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3055937" y="2408237"/>
                <a:ext cx="1746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74625">
                    <a:moveTo>
                      <a:pt x="87312" y="0"/>
                    </a:moveTo>
                    <a:cubicBezTo>
                      <a:pt x="39091" y="0"/>
                      <a:pt x="0" y="39091"/>
                      <a:pt x="0" y="87312"/>
                    </a:cubicBezTo>
                    <a:cubicBezTo>
                      <a:pt x="0" y="135534"/>
                      <a:pt x="39091" y="174625"/>
                      <a:pt x="87312" y="174625"/>
                    </a:cubicBezTo>
                    <a:cubicBezTo>
                      <a:pt x="135534" y="174625"/>
                      <a:pt x="174625" y="135534"/>
                      <a:pt x="174625" y="8731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972621" y="2331904"/>
                <a:ext cx="334171" cy="334199"/>
              </a:xfrm>
              <a:custGeom>
                <a:avLst/>
                <a:gdLst/>
                <a:ahLst/>
                <a:cxnLst/>
                <a:rect l="l" t="t" r="r" b="b"/>
                <a:pathLst>
                  <a:path w="334171" h="334199">
                    <a:moveTo>
                      <a:pt x="188091" y="7444"/>
                    </a:moveTo>
                    <a:cubicBezTo>
                      <a:pt x="121739" y="0"/>
                      <a:pt x="57926" y="35293"/>
                      <a:pt x="28963" y="95452"/>
                    </a:cubicBezTo>
                    <a:cubicBezTo>
                      <a:pt x="0" y="155612"/>
                      <a:pt x="12210" y="227505"/>
                      <a:pt x="59410" y="274729"/>
                    </a:cubicBezTo>
                    <a:cubicBezTo>
                      <a:pt x="106611" y="321953"/>
                      <a:pt x="178498" y="334199"/>
                      <a:pt x="238672" y="305267"/>
                    </a:cubicBezTo>
                    <a:cubicBezTo>
                      <a:pt x="298846" y="276334"/>
                      <a:pt x="334171" y="212539"/>
                      <a:pt x="326760" y="146183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3195637" y="2338387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7"/>
                    </a:moveTo>
                    <a:lnTo>
                      <a:pt x="0" y="104775"/>
                    </a:lnTo>
                    <a:lnTo>
                      <a:pt x="52387" y="104775"/>
                    </a:lnTo>
                    <a:lnTo>
                      <a:pt x="104775" y="52387"/>
                    </a:lnTo>
                    <a:lnTo>
                      <a:pt x="52387" y="52387"/>
                    </a:lnTo>
                    <a:lnTo>
                      <a:pt x="52387" y="0"/>
                    </a:lnTo>
                    <a:lnTo>
                      <a:pt x="0" y="52387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3143250" y="2443162"/>
                <a:ext cx="52387" cy="52387"/>
              </a:xfrm>
              <a:custGeom>
                <a:avLst/>
                <a:gdLst/>
                <a:ahLst/>
                <a:cxnLst/>
                <a:rect l="l" t="t" r="r" b="b"/>
                <a:pathLst>
                  <a:path w="52387" h="52387">
                    <a:moveTo>
                      <a:pt x="52387" y="0"/>
                    </a:moveTo>
                    <a:lnTo>
                      <a:pt x="0" y="52387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4613910" y="2339340"/>
              <a:ext cx="326898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dk1"/>
                  </a:solidFill>
                  <a:effectLst>
                    <a:glow rad="57150">
                      <a:srgbClr val="22D3EE">
                        <a:alpha val="35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作品</a:t>
              </a:r>
              <a:r>
                <a:rPr lang="zh-CN" sz="4800" b="1" dirty="0">
                  <a:solidFill>
                    <a:schemeClr val="accent2"/>
                  </a:solidFill>
                  <a:effectLst>
                    <a:glow rad="57150">
                      <a:srgbClr val="22D3EE">
                        <a:alpha val="35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即证据</a:t>
              </a:r>
            </a:p>
          </p:txBody>
        </p:sp>
      </p:grpSp>
      <p:grpSp>
        <p:nvGrpSpPr>
          <p:cNvPr id="12" name="closing-sub"/>
          <p:cNvGrpSpPr/>
          <p:nvPr/>
        </p:nvGrpSpPr>
        <p:grpSpPr>
          <a:xfrm>
            <a:off x="3537966" y="3499485"/>
            <a:ext cx="5116068" cy="528066"/>
            <a:chOff x="3537966" y="3499485"/>
            <a:chExt cx="5116068" cy="528066"/>
          </a:xfrm>
        </p:grpSpPr>
        <p:sp>
          <p:nvSpPr>
            <p:cNvPr id="11" name="TextBox 11"/>
            <p:cNvSpPr txBox="1"/>
            <p:nvPr/>
          </p:nvSpPr>
          <p:spPr>
            <a:xfrm>
              <a:off x="3537966" y="34994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跑一遍验收命令，数字自己说话</a:t>
              </a:r>
            </a:p>
          </p:txBody>
        </p:sp>
      </p:grpSp>
      <p:grpSp>
        <p:nvGrpSpPr>
          <p:cNvPr id="15" name="verify-cmd"/>
          <p:cNvGrpSpPr/>
          <p:nvPr/>
        </p:nvGrpSpPr>
        <p:grpSpPr>
          <a:xfrm>
            <a:off x="2762250" y="4229100"/>
            <a:ext cx="6667500" cy="647700"/>
            <a:chOff x="2762250" y="4229100"/>
            <a:chExt cx="6667500" cy="647700"/>
          </a:xfrm>
        </p:grpSpPr>
        <p:sp>
          <p:nvSpPr>
            <p:cNvPr id="13" name="Rectangle 13"/>
            <p:cNvSpPr/>
            <p:nvPr/>
          </p:nvSpPr>
          <p:spPr>
            <a:xfrm>
              <a:off x="2762250" y="4229100"/>
              <a:ext cx="6667500" cy="647700"/>
            </a:xfrm>
            <a:prstGeom prst="roundRect">
              <a:avLst>
                <a:gd name="adj" fmla="val 882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519811" y="4421505"/>
              <a:ext cx="51523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 python check_report.py → exit 0</a:t>
              </a:r>
            </a:p>
          </p:txBody>
        </p:sp>
      </p:grpSp>
      <p:grpSp>
        <p:nvGrpSpPr>
          <p:cNvPr id="17" name="closing-meta"/>
          <p:cNvGrpSpPr/>
          <p:nvPr/>
        </p:nvGrpSpPr>
        <p:grpSpPr>
          <a:xfrm>
            <a:off x="3440430" y="5438775"/>
            <a:ext cx="5311140" cy="617220"/>
            <a:chOff x="3440430" y="5438775"/>
            <a:chExt cx="5311140" cy="617220"/>
          </a:xfrm>
        </p:grpSpPr>
        <p:sp>
          <p:nvSpPr>
            <p:cNvPr id="16" name="TextBox 16"/>
            <p:cNvSpPr txBox="1"/>
            <p:nvPr/>
          </p:nvSpPr>
          <p:spPr>
            <a:xfrm>
              <a:off x="3440430" y="5438775"/>
              <a:ext cx="53111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55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人机分工：agent 产全部工程物 · 人确认蓝图与两道用户门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归档：workspace/e2e-rehearsal-2026（/archive 后留痕）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176016" y="6276975"/>
            <a:ext cx="58399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e2e-rehearsal-2026 · 答辩 PPT 正式产线 K-12 · 2026-09-16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hearsal-deck">
  <a:themeElements>
    <a:clrScheme name="rehearsal-deck">
      <a:dk1>
        <a:srgbClr val="E2E8F0"/>
      </a:dk1>
      <a:lt1>
        <a:srgbClr val="0B1220"/>
      </a:lt1>
      <a:dk2>
        <a:srgbClr val="1F497D"/>
      </a:dk2>
      <a:lt2>
        <a:srgbClr val="111A2E"/>
      </a:lt2>
      <a:accent1>
        <a:srgbClr val="38BDF8"/>
      </a:accent1>
      <a:accent2>
        <a:srgbClr val="22D3EE"/>
      </a:accent2>
      <a:accent3>
        <a:srgbClr val="F59E0B"/>
      </a:accent3>
      <a:accent4>
        <a:srgbClr val="38BDF8"/>
      </a:accent4>
      <a:accent5>
        <a:srgbClr val="94A3B8"/>
      </a:accent5>
      <a:accent6>
        <a:srgbClr val="1E293B"/>
      </a:accent6>
      <a:hlink>
        <a:srgbClr val="22D3EE"/>
      </a:hlink>
      <a:folHlink>
        <a:srgbClr val="F59E0B"/>
      </a:folHlink>
    </a:clrScheme>
    <a:fontScheme name="rehearsal-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hearsal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hearsal-deck">
  <a:themeElements>
    <a:clrScheme name="rehearsal-deck">
      <a:dk1>
        <a:srgbClr val="E2E8F0"/>
      </a:dk1>
      <a:lt1>
        <a:srgbClr val="0B1220"/>
      </a:lt1>
      <a:dk2>
        <a:srgbClr val="1F497D"/>
      </a:dk2>
      <a:lt2>
        <a:srgbClr val="111A2E"/>
      </a:lt2>
      <a:accent1>
        <a:srgbClr val="38BDF8"/>
      </a:accent1>
      <a:accent2>
        <a:srgbClr val="22D3EE"/>
      </a:accent2>
      <a:accent3>
        <a:srgbClr val="F59E0B"/>
      </a:accent3>
      <a:accent4>
        <a:srgbClr val="38BDF8"/>
      </a:accent4>
      <a:accent5>
        <a:srgbClr val="94A3B8"/>
      </a:accent5>
      <a:accent6>
        <a:srgbClr val="1E293B"/>
      </a:accent6>
      <a:hlink>
        <a:srgbClr val="22D3EE"/>
      </a:hlink>
      <a:folHlink>
        <a:srgbClr val="F59E0B"/>
      </a:folHlink>
    </a:clrScheme>
    <a:fontScheme name="rehearsal-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hearsal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2026-09-16T11:57:50Z</dcterms:created>
  <dcterms:modified xsi:type="dcterms:W3CDTF">2026-09-16T11:57:50Z</dcterms:modified>
  <cp:category/>
  <cp:contentStatus/>
</cp:coreProperties>
</file>